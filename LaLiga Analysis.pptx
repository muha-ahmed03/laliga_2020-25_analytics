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3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072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putan6.com/bola/read/6130887/barcelona-vs-villarreal-bakal-digelar-di-miami-kontroversi-mengemuka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putan6.com/bola/read/6130887/barcelona-vs-villarreal-bakal-digelar-di-miami-kontroversi-mengemuka" TargetMode="Externa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putan6.com/bola/read/6130887/barcelona-vs-villarreal-bakal-digelar-di-miami-kontroversi-mengemuka" TargetMode="Externa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putan6.com/bola/read/6130887/barcelona-vs-villarreal-bakal-digelar-di-miami-kontroversi-mengemuka" TargetMode="Externa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putan6.com/bola/read/6130887/barcelona-vs-villarreal-bakal-digelar-di-miami-kontroversi-mengemuka" TargetMode="Externa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putan6.com/bola/read/6130887/barcelona-vs-villarreal-bakal-digelar-di-miami-kontroversi-mengemuka" TargetMode="Externa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putan6.com/bola/read/6130887/barcelona-vs-villarreal-bakal-digelar-di-miami-kontroversi-mengemuka" TargetMode="Externa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putan6.com/bola/read/6130887/barcelona-vs-villarreal-bakal-digelar-di-miami-kontroversi-mengemuka" TargetMode="Externa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putan6.com/bola/read/6130887/barcelona-vs-villarreal-bakal-digelar-di-miami-kontroversi-mengemuk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71536" y="1519813"/>
            <a:ext cx="44167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LaLiga Analysis</a:t>
            </a:r>
            <a:endParaRPr lang="en-US" sz="45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393817" y="2586613"/>
            <a:ext cx="37721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2020–2025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577196" y="3382844"/>
            <a:ext cx="3405586" cy="3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 &amp; Teams Analysis 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729745" y="4841996"/>
            <a:ext cx="1903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Project | January 2026</a:t>
            </a:r>
            <a:endParaRPr lang="en-US" sz="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76A198-5A2D-F993-441C-441870D5E078}"/>
              </a:ext>
            </a:extLst>
          </p:cNvPr>
          <p:cNvSpPr/>
          <p:nvPr/>
        </p:nvSpPr>
        <p:spPr>
          <a:xfrm>
            <a:off x="0" y="-1"/>
            <a:ext cx="9144000" cy="68579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2AA61B-9C03-404A-8C4C-FDE1C8145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76" y="-78377"/>
            <a:ext cx="1925858" cy="9797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BE9885-27F1-4D77-AA37-CC90454F5F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1001267" cy="6857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817" y="1074723"/>
            <a:ext cx="8403772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 Answered</a:t>
            </a:r>
            <a:endParaRPr lang="en-US" sz="27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706216"/>
            <a:ext cx="7400109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have league results, points, and goals evolved across 5 seasons?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relationship between goals scored, conceded, and expected goals (xG)?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home vs away performance, formations, and referees impact team results?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teams, players, and set pieces (free kicks, penalties) stand out?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identify trends in shooting accuracy and goal-scoring patterns?</a:t>
            </a:r>
            <a:endParaRPr lang="en-US" sz="13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065C9E-B227-4061-DC49-C2AECBFDB440}"/>
              </a:ext>
            </a:extLst>
          </p:cNvPr>
          <p:cNvSpPr/>
          <p:nvPr/>
        </p:nvSpPr>
        <p:spPr>
          <a:xfrm>
            <a:off x="0" y="-1"/>
            <a:ext cx="9144000" cy="68579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0712C-5929-621E-0078-B8FFF7860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76" y="-78377"/>
            <a:ext cx="1925858" cy="979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28EE57-AD2A-86CF-CF51-BF5099C3A3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1001267" cy="6857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633" y="1083016"/>
            <a:ext cx="844089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 Overview (2020–2025)</a:t>
            </a:r>
            <a:endParaRPr lang="en-US" sz="27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59823" y="1651684"/>
            <a:ext cx="932688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Teams, Goals &amp; Expected Goals Trends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2051479"/>
            <a:ext cx="7713617" cy="2086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Madrid, Barcelona, and Atlético Madrid</a:t>
            </a:r>
            <a:r>
              <a:rPr lang="en-US" sz="13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consistently dominate league standings across all 5 seasons.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r>
              <a:rPr lang="en-US" sz="1350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Madrid</a:t>
            </a:r>
            <a:r>
              <a:rPr lang="en-US" sz="1350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have won 3 seasons,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Barcelona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 have won 2 seasons while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Atlético Madrid 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won 1 season in this duration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teams score significantly more goals—approximately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35–40% advantage</a:t>
            </a:r>
            <a:r>
              <a:rPr lang="en-US" sz="13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away teams.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goals (xG) closely aligns with actual goals, validating the quality of chances created.</a:t>
            </a:r>
            <a:endParaRPr lang="en-US" sz="13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0DD942-9B96-8FE1-5307-508F306B3248}"/>
              </a:ext>
            </a:extLst>
          </p:cNvPr>
          <p:cNvSpPr/>
          <p:nvPr/>
        </p:nvSpPr>
        <p:spPr>
          <a:xfrm>
            <a:off x="0" y="-1"/>
            <a:ext cx="9144000" cy="68579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2D82A7-E852-076C-61E1-8D6B05E14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76" y="-78377"/>
            <a:ext cx="1925858" cy="9797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8AD145-8CEC-5B4F-C96E-D54180A01C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1001267" cy="6857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09650"/>
            <a:ext cx="8084062" cy="43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Week Scoring &amp; Shooting Accuracy</a:t>
            </a:r>
            <a:endParaRPr lang="en-US" sz="27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821061"/>
            <a:ext cx="7262949" cy="250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fluctuates across the 38-match season; early weeks (1–10) and mid-season show higher variability.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accuracy (shots on target ÷ total shots) averages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0.31–0.35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seasons.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with higher shot volume don't always translate to proportionally higher goal counts—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matters more than volume</a:t>
            </a:r>
            <a:r>
              <a:rPr lang="en-US" sz="13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4B0A80-EA47-17CD-7622-25EDF6291D0B}"/>
              </a:ext>
            </a:extLst>
          </p:cNvPr>
          <p:cNvSpPr/>
          <p:nvPr/>
        </p:nvSpPr>
        <p:spPr>
          <a:xfrm>
            <a:off x="0" y="-1"/>
            <a:ext cx="9144000" cy="68579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C48A45-EEF2-ED04-0A6C-2EA3A622B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76" y="-78377"/>
            <a:ext cx="1925858" cy="979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5F0D9C-210D-028F-BD8A-391FD85094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1001267" cy="6857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5097" y="1020961"/>
            <a:ext cx="804960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Performance Drill-Down</a:t>
            </a:r>
            <a:endParaRPr lang="en-US" sz="27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71352" y="1701437"/>
            <a:ext cx="804960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Results, Points &amp; Opponent Strength Analysis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09897" y="2210463"/>
            <a:ext cx="7628709" cy="1988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team slicer allows filtering by season to compare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Wins, Losses, Draws</a:t>
            </a:r>
            <a:r>
              <a:rPr lang="en-US" sz="13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time.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 vulnerability</a:t>
            </a:r>
            <a:r>
              <a:rPr lang="en-US" sz="13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(goals conceded) varies by team top teams average 20–30 GA/season; others exceed 40.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vs. top opponents reveals which teams perform well against stronger competition.</a:t>
            </a:r>
            <a:endParaRPr lang="en-US" sz="13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86A537-3A53-293A-1B77-C84D88494D8B}"/>
              </a:ext>
            </a:extLst>
          </p:cNvPr>
          <p:cNvSpPr/>
          <p:nvPr/>
        </p:nvSpPr>
        <p:spPr>
          <a:xfrm>
            <a:off x="0" y="-1"/>
            <a:ext cx="9144000" cy="68579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021A58-5D93-0769-F4B1-9E9AB4E87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76" y="-78377"/>
            <a:ext cx="1925858" cy="9797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3172D3-C23F-540B-C415-D60F1DE02D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1001267" cy="6857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3684" y="1218770"/>
            <a:ext cx="813712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Formations, Home/Away &amp; Referee Influence</a:t>
            </a:r>
            <a:endParaRPr lang="en-US" sz="27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18484" y="2030181"/>
            <a:ext cx="7711653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4–3–3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4–2–3–1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most common; win rates vary by formation and opponent quality.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advantage is critical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average home points ≈ 50–55% higher than away points per season.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referees (José Luis Munuera, Jesús Gil) oversee more draws; minor refs show higher variance in match outcomes.</a:t>
            </a:r>
            <a:endParaRPr lang="en-US" sz="13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006EA9-A739-5D69-C758-EAC2BD0D95EA}"/>
              </a:ext>
            </a:extLst>
          </p:cNvPr>
          <p:cNvSpPr/>
          <p:nvPr/>
        </p:nvSpPr>
        <p:spPr>
          <a:xfrm>
            <a:off x="0" y="-1"/>
            <a:ext cx="9144000" cy="68579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102C06-66FB-A6C9-9358-9AF785E0F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76" y="-78377"/>
            <a:ext cx="1925858" cy="979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DEC726-225A-C04B-630C-7AE5734D7E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1001267" cy="6857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15330"/>
            <a:ext cx="775253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Goal-Scoring Breakdown &amp; Set Pieces</a:t>
            </a:r>
            <a:endParaRPr lang="en-US" sz="27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2026740"/>
            <a:ext cx="7347172" cy="1976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Barcelona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team who scored most goals during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2020-2025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is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459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Celta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Vigo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team who conceded most goals that is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Open-play goals dominate (70–75% of total); free kicks and penalties account for 15–20%.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with </a:t>
            </a: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xG consistently outperform low-xG teams</a:t>
            </a:r>
            <a:r>
              <a:rPr lang="en-US" sz="13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full seasons.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Set-piece efficiency (goals per set piece) peaks mid-season; late-season fatigue may reduce conversion rates.</a:t>
            </a:r>
            <a:endParaRPr lang="en-US" sz="13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2DD5E6-0E0A-43FB-01E2-87F8A36F2481}"/>
              </a:ext>
            </a:extLst>
          </p:cNvPr>
          <p:cNvSpPr/>
          <p:nvPr/>
        </p:nvSpPr>
        <p:spPr>
          <a:xfrm>
            <a:off x="0" y="-1"/>
            <a:ext cx="9144000" cy="68579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98985D-6DD7-68FC-E60A-94EC1E5F5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76" y="-78377"/>
            <a:ext cx="1925858" cy="979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ED9118-F6A5-5238-21C2-F9D8BA506B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1001267" cy="6857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276" y="1159519"/>
            <a:ext cx="804936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7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76076" y="1970930"/>
            <a:ext cx="7628483" cy="188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Home-field advantage is real</a:t>
            </a: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3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should prioritize points at home and accept difficult away outcomes.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 is a strong predictor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shot quality &gt; shot quantity; focus on efficient, high-xG chances.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pieces are leverage points</a:t>
            </a: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teams excelling at set pieces gain 5–8 extra points per season.</a:t>
            </a:r>
          </a:p>
          <a:p>
            <a:pPr marL="342900" indent="-342900">
              <a:lnSpc>
                <a:spcPts val="2430"/>
              </a:lnSpc>
              <a:buSzPct val="100000"/>
              <a:buFontTx/>
              <a:buChar char="•"/>
            </a:pPr>
            <a:r>
              <a:rPr lang="en-GB" sz="1350" b="1" dirty="0">
                <a:solidFill>
                  <a:srgbClr val="FF0000"/>
                </a:solidFill>
              </a:rPr>
              <a:t>Defensive consistency matters</a:t>
            </a:r>
            <a:r>
              <a:rPr lang="en-GB" sz="1350" dirty="0"/>
              <a:t>: teams that maintain low goals-conceded averages (≤25 GA/season) are 60% more likely to finish in top 4.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663E87-2DB4-429F-5216-96BEAFB8F059}"/>
              </a:ext>
            </a:extLst>
          </p:cNvPr>
          <p:cNvSpPr/>
          <p:nvPr/>
        </p:nvSpPr>
        <p:spPr>
          <a:xfrm>
            <a:off x="0" y="-1"/>
            <a:ext cx="9144000" cy="68579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BD19A1-CB4A-EB73-FF12-71FAA526A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76" y="-78377"/>
            <a:ext cx="1925858" cy="979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EA81B7-F338-47DE-1644-3940E02344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1001267" cy="685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46D0A9-AD82-54DC-99A5-9A10AEE19BE8}"/>
              </a:ext>
            </a:extLst>
          </p:cNvPr>
          <p:cNvSpPr txBox="1"/>
          <p:nvPr/>
        </p:nvSpPr>
        <p:spPr>
          <a:xfrm>
            <a:off x="952808" y="1565920"/>
            <a:ext cx="7570934" cy="3481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5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League</a:t>
            </a:r>
            <a:r>
              <a:rPr lang="en-GB" sz="1350" b="1" i="0" dirty="0">
                <a:solidFill>
                  <a:srgbClr val="E00C1A"/>
                </a:solidFill>
                <a:effectLst/>
                <a:latin typeface="Arial" panose="020B0604020202020204" pitchFamily="34" charset="0"/>
              </a:rPr>
              <a:t> Dominance</a:t>
            </a:r>
            <a:r>
              <a:rPr lang="en-GB" sz="1350" b="0" i="0" dirty="0">
                <a:solidFill>
                  <a:srgbClr val="0F172A"/>
                </a:solidFill>
                <a:effectLst/>
                <a:latin typeface="Arial" panose="020B0604020202020204" pitchFamily="34" charset="0"/>
              </a:rPr>
              <a:t>: Real Madrid, Barcelona, and Atlético Madrid are expected to maintain their dominance in LaLiga. Historical consistency and financial strength position these three as frontrunners.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50" b="1" i="0" dirty="0">
                <a:solidFill>
                  <a:srgbClr val="E00C1A"/>
                </a:solidFill>
                <a:effectLst/>
                <a:latin typeface="Arial" panose="020B0604020202020204" pitchFamily="34" charset="0"/>
              </a:rPr>
              <a:t>Real Madrid Title Outlook</a:t>
            </a:r>
            <a:r>
              <a:rPr lang="en-GB" sz="1350" b="0" i="0" dirty="0">
                <a:solidFill>
                  <a:srgbClr val="0F172A"/>
                </a:solidFill>
                <a:effectLst/>
                <a:latin typeface="Arial" panose="020B0604020202020204" pitchFamily="34" charset="0"/>
              </a:rPr>
              <a:t>: Based on consistent performance and squad depth, Real Madrid is projected to win </a:t>
            </a:r>
            <a:r>
              <a:rPr lang="en-GB" sz="1350" b="1" i="0" dirty="0">
                <a:solidFill>
                  <a:srgbClr val="E00C1A"/>
                </a:solidFill>
                <a:effectLst/>
                <a:latin typeface="Arial" panose="020B0604020202020204" pitchFamily="34" charset="0"/>
              </a:rPr>
              <a:t>at least 2 of the next 3–4 seasons</a:t>
            </a:r>
            <a:r>
              <a:rPr lang="en-GB" sz="1350" b="0" i="0" dirty="0">
                <a:solidFill>
                  <a:srgbClr val="0F172A"/>
                </a:solidFill>
                <a:effectLst/>
                <a:latin typeface="Arial" panose="020B0604020202020204" pitchFamily="34" charset="0"/>
              </a:rPr>
              <a:t>. Their home-advantage exploitation and </a:t>
            </a:r>
            <a:r>
              <a:rPr lang="en-GB" sz="1350" b="0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</a:rPr>
              <a:t>xG</a:t>
            </a:r>
            <a:r>
              <a:rPr lang="en-GB" sz="1350" b="0" i="0" dirty="0">
                <a:solidFill>
                  <a:srgbClr val="0F172A"/>
                </a:solidFill>
                <a:effectLst/>
                <a:latin typeface="Arial" panose="020B0604020202020204" pitchFamily="34" charset="0"/>
              </a:rPr>
              <a:t> efficiency suggest sustained competitiveness.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50" b="1" i="0" dirty="0">
                <a:solidFill>
                  <a:srgbClr val="E00C1A"/>
                </a:solidFill>
                <a:effectLst/>
                <a:latin typeface="Arial" panose="020B0604020202020204" pitchFamily="34" charset="0"/>
              </a:rPr>
              <a:t>Competitive Dynamics</a:t>
            </a:r>
            <a:r>
              <a:rPr lang="en-GB" sz="1350" b="0" i="0" dirty="0">
                <a:solidFill>
                  <a:srgbClr val="0F172A"/>
                </a:solidFill>
                <a:effectLst/>
                <a:latin typeface="Arial" panose="020B0604020202020204" pitchFamily="34" charset="0"/>
              </a:rPr>
              <a:t>: Barcelona and Atlético Madrid will challenge for titles, particularly in seasons where injuries or form fluctuations affect Madrid's consistency. The three clubs combined are likely to claim 90%+ of league titles.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50" b="1" i="0" dirty="0">
                <a:solidFill>
                  <a:srgbClr val="E00C1A"/>
                </a:solidFill>
                <a:effectLst/>
                <a:latin typeface="Arial" panose="020B0604020202020204" pitchFamily="34" charset="0"/>
              </a:rPr>
              <a:t>Key Variables</a:t>
            </a:r>
            <a:r>
              <a:rPr lang="en-GB" sz="1350" b="0" i="0" dirty="0">
                <a:solidFill>
                  <a:srgbClr val="0F172A"/>
                </a:solidFill>
                <a:effectLst/>
                <a:latin typeface="Arial" panose="020B0604020202020204" pitchFamily="34" charset="0"/>
              </a:rPr>
              <a:t>: Player transfers, injury management, and European competition fatigue will influence outcomes. Monitor shot efficiency and set-piece conversion as leading indicators.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9D7D0-743A-2E7A-9689-9C76740AF783}"/>
              </a:ext>
            </a:extLst>
          </p:cNvPr>
          <p:cNvSpPr txBox="1"/>
          <p:nvPr/>
        </p:nvSpPr>
        <p:spPr>
          <a:xfrm>
            <a:off x="500633" y="979713"/>
            <a:ext cx="72480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700" b="1" i="0" dirty="0">
                <a:solidFill>
                  <a:srgbClr val="E00C1A"/>
                </a:solidFill>
                <a:effectLst/>
                <a:latin typeface="Arial" panose="020B0604020202020204" pitchFamily="34" charset="0"/>
              </a:rPr>
              <a:t>Prediction: Next 3–4 Seasons (2026–2029)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D3C2EA-7752-C932-CF3E-66A33FDA7160}"/>
              </a:ext>
            </a:extLst>
          </p:cNvPr>
          <p:cNvSpPr/>
          <p:nvPr/>
        </p:nvSpPr>
        <p:spPr>
          <a:xfrm>
            <a:off x="0" y="-1"/>
            <a:ext cx="9144000" cy="68579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82766E-914C-2C3D-BAD0-62954E953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76" y="-78377"/>
            <a:ext cx="1925858" cy="9797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3E1ADF-16BD-AF7A-D329-EF29DF7E86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1001267" cy="68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78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674</Words>
  <Application>Microsoft Office PowerPoint</Application>
  <PresentationFormat>On-screen Show (16:9)</PresentationFormat>
  <Paragraphs>52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Muhammad Yousuf</cp:lastModifiedBy>
  <cp:revision>3</cp:revision>
  <dcterms:created xsi:type="dcterms:W3CDTF">2026-01-14T17:52:20Z</dcterms:created>
  <dcterms:modified xsi:type="dcterms:W3CDTF">2026-01-14T18:54:14Z</dcterms:modified>
</cp:coreProperties>
</file>